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C080A877-6735-476A-AE28-95DD0AFAAEC1}">
          <p14:sldIdLst>
            <p14:sldId id="256"/>
            <p14:sldId id="257"/>
          </p14:sldIdLst>
        </p14:section>
        <p14:section name="Untitled Section" id="{B459AD10-2C83-4A37-A793-44390C531B2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260" y="2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4" y="0"/>
            <a:ext cx="12144375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996" y="319659"/>
            <a:ext cx="4800600" cy="35661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81" y="11811"/>
            <a:ext cx="12192000" cy="932815"/>
          </a:xfrm>
          <a:custGeom>
            <a:avLst/>
            <a:gdLst/>
            <a:ahLst/>
            <a:cxnLst/>
            <a:rect l="l" t="t" r="r" b="b"/>
            <a:pathLst>
              <a:path w="12192000" h="932815">
                <a:moveTo>
                  <a:pt x="12192000" y="0"/>
                </a:moveTo>
                <a:lnTo>
                  <a:pt x="0" y="0"/>
                </a:lnTo>
                <a:lnTo>
                  <a:pt x="0" y="932687"/>
                </a:lnTo>
                <a:lnTo>
                  <a:pt x="12192000" y="93268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B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81" y="11811"/>
            <a:ext cx="12192000" cy="932815"/>
          </a:xfrm>
          <a:custGeom>
            <a:avLst/>
            <a:gdLst/>
            <a:ahLst/>
            <a:cxnLst/>
            <a:rect l="l" t="t" r="r" b="b"/>
            <a:pathLst>
              <a:path w="12192000" h="932815">
                <a:moveTo>
                  <a:pt x="0" y="932687"/>
                </a:moveTo>
                <a:lnTo>
                  <a:pt x="12192000" y="932687"/>
                </a:lnTo>
                <a:lnTo>
                  <a:pt x="12192000" y="0"/>
                </a:lnTo>
                <a:lnTo>
                  <a:pt x="0" y="0"/>
                </a:lnTo>
                <a:lnTo>
                  <a:pt x="0" y="932687"/>
                </a:lnTo>
                <a:close/>
              </a:path>
            </a:pathLst>
          </a:custGeom>
          <a:ln w="12192">
            <a:solidFill>
              <a:srgbClr val="002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81596" y="27051"/>
            <a:ext cx="893064" cy="8930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6997" y="319659"/>
            <a:ext cx="4800600" cy="35661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81" y="11810"/>
            <a:ext cx="12192000" cy="932815"/>
          </a:xfrm>
          <a:custGeom>
            <a:avLst/>
            <a:gdLst/>
            <a:ahLst/>
            <a:cxnLst/>
            <a:rect l="l" t="t" r="r" b="b"/>
            <a:pathLst>
              <a:path w="12192000" h="932815">
                <a:moveTo>
                  <a:pt x="12192000" y="0"/>
                </a:moveTo>
                <a:lnTo>
                  <a:pt x="0" y="0"/>
                </a:lnTo>
                <a:lnTo>
                  <a:pt x="0" y="932687"/>
                </a:lnTo>
                <a:lnTo>
                  <a:pt x="12192000" y="93268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B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81" y="11810"/>
            <a:ext cx="12192000" cy="932815"/>
          </a:xfrm>
          <a:custGeom>
            <a:avLst/>
            <a:gdLst/>
            <a:ahLst/>
            <a:cxnLst/>
            <a:rect l="l" t="t" r="r" b="b"/>
            <a:pathLst>
              <a:path w="12192000" h="932815">
                <a:moveTo>
                  <a:pt x="0" y="932687"/>
                </a:moveTo>
                <a:lnTo>
                  <a:pt x="12192000" y="932687"/>
                </a:lnTo>
                <a:lnTo>
                  <a:pt x="12192000" y="0"/>
                </a:lnTo>
                <a:lnTo>
                  <a:pt x="0" y="0"/>
                </a:lnTo>
                <a:lnTo>
                  <a:pt x="0" y="932687"/>
                </a:lnTo>
                <a:close/>
              </a:path>
            </a:pathLst>
          </a:custGeom>
          <a:ln w="12192">
            <a:solidFill>
              <a:srgbClr val="002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81596" y="27050"/>
            <a:ext cx="893064" cy="8930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084" y="271017"/>
            <a:ext cx="64198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56935" y="2709135"/>
            <a:ext cx="5987415" cy="2249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797" y="6041072"/>
              <a:ext cx="4800600" cy="356615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5714" y="1005837"/>
            <a:ext cx="12204700" cy="5858510"/>
            <a:chOff x="-5714" y="1005837"/>
            <a:chExt cx="12204700" cy="58585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6292" y="1005837"/>
              <a:ext cx="5271389" cy="5847334"/>
            </a:xfrm>
            <a:prstGeom prst="rect">
              <a:avLst/>
            </a:prstGeom>
          </p:spPr>
        </p:pic>
        <p:pic>
          <p:nvPicPr>
            <p:cNvPr id="7" name="object 7" descr="Knowledge Institute of Technology – Salem Tamilnadu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501" y="1591056"/>
              <a:ext cx="3480815" cy="348081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1" y="5925248"/>
              <a:ext cx="12192000" cy="932815"/>
            </a:xfrm>
            <a:custGeom>
              <a:avLst/>
              <a:gdLst/>
              <a:ahLst/>
              <a:cxnLst/>
              <a:rect l="l" t="t" r="r" b="b"/>
              <a:pathLst>
                <a:path w="12192000" h="932815">
                  <a:moveTo>
                    <a:pt x="12192000" y="0"/>
                  </a:moveTo>
                  <a:lnTo>
                    <a:pt x="0" y="0"/>
                  </a:lnTo>
                  <a:lnTo>
                    <a:pt x="0" y="932688"/>
                  </a:lnTo>
                  <a:lnTo>
                    <a:pt x="12192000" y="9326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5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1" y="5925248"/>
              <a:ext cx="12192000" cy="932815"/>
            </a:xfrm>
            <a:custGeom>
              <a:avLst/>
              <a:gdLst/>
              <a:ahLst/>
              <a:cxnLst/>
              <a:rect l="l" t="t" r="r" b="b"/>
              <a:pathLst>
                <a:path w="12192000" h="932815">
                  <a:moveTo>
                    <a:pt x="0" y="932688"/>
                  </a:moveTo>
                  <a:lnTo>
                    <a:pt x="12192000" y="93268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932688"/>
                  </a:lnTo>
                  <a:close/>
                </a:path>
              </a:pathLst>
            </a:custGeom>
            <a:ln w="12192">
              <a:solidFill>
                <a:srgbClr val="002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80491" y="1810588"/>
            <a:ext cx="543306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25" dirty="0"/>
              <a:t>LOW-</a:t>
            </a:r>
            <a:r>
              <a:rPr sz="2800" dirty="0"/>
              <a:t>COST</a:t>
            </a:r>
            <a:r>
              <a:rPr sz="2800" spc="5" dirty="0"/>
              <a:t> </a:t>
            </a:r>
            <a:r>
              <a:rPr sz="2800" spc="-25" dirty="0"/>
              <a:t>CONVEYOR-</a:t>
            </a:r>
            <a:r>
              <a:rPr sz="2800" spc="-10" dirty="0"/>
              <a:t>BASED</a:t>
            </a:r>
            <a:endParaRPr sz="2800"/>
          </a:p>
        </p:txBody>
      </p:sp>
      <p:sp>
        <p:nvSpPr>
          <p:cNvPr id="11" name="object 11"/>
          <p:cNvSpPr txBox="1"/>
          <p:nvPr/>
        </p:nvSpPr>
        <p:spPr>
          <a:xfrm>
            <a:off x="380491" y="2548585"/>
            <a:ext cx="5050155" cy="1189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MICRO</a:t>
            </a:r>
            <a:r>
              <a:rPr sz="2800" b="1" spc="-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85" dirty="0">
                <a:solidFill>
                  <a:srgbClr val="FFFFFF"/>
                </a:solidFill>
                <a:latin typeface="Arial"/>
                <a:cs typeface="Arial"/>
              </a:rPr>
              <a:t>LOGISTICS</a:t>
            </a:r>
            <a:r>
              <a:rPr sz="2800" b="1" spc="-3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2800" b="1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25"/>
              </a:spcBef>
            </a:pP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WAREHOUSES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084" y="5455107"/>
            <a:ext cx="6419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084" y="271017"/>
            <a:ext cx="6419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7404" y="5879836"/>
            <a:ext cx="1390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5"/>
              </a:lnSpc>
            </a:pPr>
            <a:r>
              <a:rPr sz="1600" b="1" spc="-50" dirty="0">
                <a:solidFill>
                  <a:srgbClr val="666666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5972" y="1216228"/>
            <a:ext cx="9945828" cy="952697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>
              <a:lnSpc>
                <a:spcPct val="91000"/>
              </a:lnSpc>
              <a:spcBef>
                <a:spcPts val="440"/>
              </a:spcBef>
            </a:pPr>
            <a:r>
              <a:rPr sz="3200" b="0" spc="-30" dirty="0">
                <a:solidFill>
                  <a:srgbClr val="005BB9"/>
                </a:solidFill>
                <a:latin typeface="Times New Roman"/>
                <a:cs typeface="Times New Roman"/>
              </a:rPr>
              <a:t>LOW-</a:t>
            </a:r>
            <a:r>
              <a:rPr sz="3200" b="0" dirty="0">
                <a:solidFill>
                  <a:srgbClr val="005BB9"/>
                </a:solidFill>
                <a:latin typeface="Times New Roman"/>
                <a:cs typeface="Times New Roman"/>
              </a:rPr>
              <a:t>COST</a:t>
            </a:r>
            <a:r>
              <a:rPr sz="3200" b="0" spc="-40" dirty="0">
                <a:solidFill>
                  <a:srgbClr val="005BB9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005BB9"/>
                </a:solidFill>
                <a:latin typeface="Times New Roman"/>
                <a:cs typeface="Times New Roman"/>
              </a:rPr>
              <a:t>CONVEYOR-</a:t>
            </a:r>
            <a:r>
              <a:rPr sz="3200" b="0" dirty="0">
                <a:solidFill>
                  <a:srgbClr val="005BB9"/>
                </a:solidFill>
                <a:latin typeface="Times New Roman"/>
                <a:cs typeface="Times New Roman"/>
              </a:rPr>
              <a:t>BASED</a:t>
            </a:r>
            <a:r>
              <a:rPr sz="3200" b="0" spc="-110" dirty="0">
                <a:solidFill>
                  <a:srgbClr val="005BB9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005BB9"/>
                </a:solidFill>
                <a:latin typeface="Times New Roman"/>
                <a:cs typeface="Times New Roman"/>
              </a:rPr>
              <a:t>MICRO</a:t>
            </a:r>
            <a:r>
              <a:rPr sz="3200" b="0" spc="-95" dirty="0">
                <a:solidFill>
                  <a:srgbClr val="005BB9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005BB9"/>
                </a:solidFill>
                <a:latin typeface="Times New Roman"/>
                <a:cs typeface="Times New Roman"/>
              </a:rPr>
              <a:t>LOGISTICS SYSTEM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972" y="2438400"/>
            <a:ext cx="10652760" cy="3366178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469900" marR="5080" indent="-457200">
              <a:lnSpc>
                <a:spcPct val="95900"/>
              </a:lnSpc>
              <a:spcBef>
                <a:spcPts val="245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low-</a:t>
            </a:r>
            <a:r>
              <a:rPr sz="2800" b="1" dirty="0">
                <a:latin typeface="Times New Roman"/>
                <a:cs typeface="Times New Roman"/>
              </a:rPr>
              <a:t>cost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conveyor-</a:t>
            </a:r>
            <a:r>
              <a:rPr sz="2800" b="1" dirty="0">
                <a:latin typeface="Times New Roman"/>
                <a:cs typeface="Times New Roman"/>
              </a:rPr>
              <a:t>based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micro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logistics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automate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movement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sorting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packages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small-</a:t>
            </a:r>
            <a:r>
              <a:rPr sz="2800" dirty="0">
                <a:latin typeface="Times New Roman"/>
                <a:cs typeface="Times New Roman"/>
              </a:rPr>
              <a:t>scale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warehouses.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endParaRPr lang="en-IN" sz="2800" spc="-5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95900"/>
              </a:lnSpc>
              <a:spcBef>
                <a:spcPts val="245"/>
              </a:spcBef>
              <a:buFont typeface="Arial" panose="020B0604020202020204" pitchFamily="34" charset="0"/>
              <a:buChar char="•"/>
            </a:pPr>
            <a:r>
              <a:rPr sz="2800" spc="-25" dirty="0">
                <a:latin typeface="Times New Roman"/>
                <a:cs typeface="Times New Roman"/>
              </a:rPr>
              <a:t>By </a:t>
            </a:r>
            <a:r>
              <a:rPr sz="2800" dirty="0">
                <a:latin typeface="Times New Roman"/>
                <a:cs typeface="Times New Roman"/>
              </a:rPr>
              <a:t>combining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modular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conveyor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mechanisms,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sensors,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microcontroller-based </a:t>
            </a:r>
            <a:r>
              <a:rPr sz="2800" dirty="0">
                <a:latin typeface="Times New Roman"/>
                <a:cs typeface="Times New Roman"/>
              </a:rPr>
              <a:t>control,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sorting,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enables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material </a:t>
            </a:r>
            <a:r>
              <a:rPr sz="2800" dirty="0">
                <a:latin typeface="Times New Roman"/>
                <a:cs typeface="Times New Roman"/>
              </a:rPr>
              <a:t>handling,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labor,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minimizes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operational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costs,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provides </a:t>
            </a:r>
            <a:r>
              <a:rPr sz="2800" dirty="0">
                <a:latin typeface="Times New Roman"/>
                <a:cs typeface="Times New Roman"/>
              </a:rPr>
              <a:t>reliable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package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transportation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warehouse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sections.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714" y="0"/>
            <a:ext cx="12204700" cy="6810375"/>
            <a:chOff x="-5714" y="0"/>
            <a:chExt cx="12204700" cy="68103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4" y="0"/>
              <a:ext cx="12144375" cy="681037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996" y="319659"/>
              <a:ext cx="4800600" cy="3566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1" y="11811"/>
              <a:ext cx="12192000" cy="932815"/>
            </a:xfrm>
            <a:custGeom>
              <a:avLst/>
              <a:gdLst/>
              <a:ahLst/>
              <a:cxnLst/>
              <a:rect l="l" t="t" r="r" b="b"/>
              <a:pathLst>
                <a:path w="12192000" h="932815">
                  <a:moveTo>
                    <a:pt x="12192000" y="0"/>
                  </a:moveTo>
                  <a:lnTo>
                    <a:pt x="0" y="0"/>
                  </a:lnTo>
                  <a:lnTo>
                    <a:pt x="0" y="932687"/>
                  </a:lnTo>
                  <a:lnTo>
                    <a:pt x="12192000" y="93268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5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" y="11811"/>
              <a:ext cx="12192000" cy="932815"/>
            </a:xfrm>
            <a:custGeom>
              <a:avLst/>
              <a:gdLst/>
              <a:ahLst/>
              <a:cxnLst/>
              <a:rect l="l" t="t" r="r" b="b"/>
              <a:pathLst>
                <a:path w="12192000" h="932815">
                  <a:moveTo>
                    <a:pt x="0" y="932687"/>
                  </a:moveTo>
                  <a:lnTo>
                    <a:pt x="12192000" y="93268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932687"/>
                  </a:lnTo>
                  <a:close/>
                </a:path>
              </a:pathLst>
            </a:custGeom>
            <a:ln w="12192">
              <a:solidFill>
                <a:srgbClr val="002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Knowledge Institute of Technology – Salem Tamilnadu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1596" y="27051"/>
              <a:ext cx="893064" cy="893063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KNOWLEDGE</a:t>
            </a:r>
            <a:r>
              <a:rPr spc="-85" dirty="0"/>
              <a:t> </a:t>
            </a:r>
            <a:r>
              <a:rPr dirty="0"/>
              <a:t>INSTITUTE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5282D0A-A83A-C904-B777-6182A72C0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519" y="2304098"/>
            <a:ext cx="9157081" cy="3508653"/>
          </a:xfrm>
        </p:spPr>
        <p:txBody>
          <a:bodyPr/>
          <a:lstStyle/>
          <a:p>
            <a:r>
              <a:rPr lang="en-IN" sz="2400" dirty="0"/>
              <a:t>START → Power ON → ESP32 Initializes → Package Placed → IR Sensor Detects → ESP32 Processes Signal → Conveyor Moves → Package Transported → Next Package → END</a:t>
            </a:r>
          </a:p>
          <a:p>
            <a:endParaRPr lang="en-IN" sz="2400" dirty="0"/>
          </a:p>
          <a:p>
            <a:r>
              <a:rPr lang="en-IN" sz="3600" spc="-10" dirty="0">
                <a:solidFill>
                  <a:srgbClr val="005BB9"/>
                </a:solidFill>
              </a:rPr>
              <a:t>Application</a:t>
            </a:r>
          </a:p>
          <a:p>
            <a:endParaRPr lang="en-IN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 dirty="0"/>
              <a:t>Small warehouses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 dirty="0"/>
              <a:t>Parcel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 dirty="0"/>
              <a:t>Educational automation prototypes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478259" y="5748771"/>
            <a:ext cx="1390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5"/>
              </a:lnSpc>
            </a:pPr>
            <a:r>
              <a:rPr sz="1600" spc="-50" dirty="0">
                <a:solidFill>
                  <a:srgbClr val="808080"/>
                </a:solidFill>
                <a:latin typeface="Arial MT"/>
                <a:cs typeface="Arial MT"/>
              </a:rPr>
              <a:t>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1466164"/>
            <a:ext cx="10436860" cy="5764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74955" marR="5080">
              <a:lnSpc>
                <a:spcPts val="4130"/>
              </a:lnSpc>
              <a:spcBef>
                <a:spcPts val="395"/>
              </a:spcBef>
            </a:pPr>
            <a:r>
              <a:rPr lang="en-IN" sz="3600" spc="-10" dirty="0">
                <a:solidFill>
                  <a:srgbClr val="005BB9"/>
                </a:solidFill>
                <a:latin typeface="Times New Roman"/>
                <a:cs typeface="Times New Roman"/>
              </a:rPr>
              <a:t>Flow Chart</a:t>
            </a: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084" y="271017"/>
            <a:ext cx="6419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7404" y="5922507"/>
            <a:ext cx="1390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5"/>
              </a:lnSpc>
            </a:pPr>
            <a:r>
              <a:rPr sz="1600" b="1" spc="-50" dirty="0">
                <a:solidFill>
                  <a:srgbClr val="666666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5355" y="1170508"/>
            <a:ext cx="42087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5BB9"/>
                </a:solidFill>
                <a:latin typeface="Times New Roman"/>
                <a:cs typeface="Times New Roman"/>
              </a:rPr>
              <a:t>Working</a:t>
            </a:r>
            <a:r>
              <a:rPr sz="3600" b="0" spc="-60" dirty="0">
                <a:solidFill>
                  <a:srgbClr val="005BB9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005BB9"/>
                </a:solidFill>
                <a:latin typeface="Times New Roman"/>
                <a:cs typeface="Times New Roman"/>
              </a:rPr>
              <a:t>Methodology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291" y="1886788"/>
            <a:ext cx="6254115" cy="270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3060"/>
              </a:lnSpc>
              <a:spcBef>
                <a:spcPts val="95"/>
              </a:spcBef>
              <a:buSzPct val="38461"/>
              <a:buFont typeface="Symbol"/>
              <a:buChar char=""/>
              <a:tabLst>
                <a:tab pos="240665" algn="l"/>
              </a:tabLst>
            </a:pPr>
            <a:r>
              <a:rPr sz="2600" dirty="0">
                <a:latin typeface="Times New Roman"/>
                <a:cs typeface="Times New Roman"/>
              </a:rPr>
              <a:t>Power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initialize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conveyor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  <a:p>
            <a:pPr marL="240665" indent="-227965">
              <a:lnSpc>
                <a:spcPts val="2990"/>
              </a:lnSpc>
              <a:buSzPct val="38461"/>
              <a:buFont typeface="Symbol"/>
              <a:buChar char=""/>
              <a:tabLst>
                <a:tab pos="240665" algn="l"/>
              </a:tabLst>
            </a:pPr>
            <a:r>
              <a:rPr sz="2600" dirty="0">
                <a:latin typeface="Times New Roman"/>
                <a:cs typeface="Times New Roman"/>
              </a:rPr>
              <a:t>Place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package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conveyor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belt.</a:t>
            </a:r>
            <a:endParaRPr sz="2600">
              <a:latin typeface="Times New Roman"/>
              <a:cs typeface="Times New Roman"/>
            </a:endParaRPr>
          </a:p>
          <a:p>
            <a:pPr marL="240665" indent="-227965">
              <a:lnSpc>
                <a:spcPts val="2990"/>
              </a:lnSpc>
              <a:buSzPct val="38461"/>
              <a:buFont typeface="Symbol"/>
              <a:buChar char=""/>
              <a:tabLst>
                <a:tab pos="240665" algn="l"/>
              </a:tabLst>
            </a:pPr>
            <a:r>
              <a:rPr sz="2600" dirty="0">
                <a:latin typeface="Times New Roman"/>
                <a:cs typeface="Times New Roman"/>
              </a:rPr>
              <a:t>Sensors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detect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package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automatically.</a:t>
            </a:r>
            <a:endParaRPr sz="2600">
              <a:latin typeface="Times New Roman"/>
              <a:cs typeface="Times New Roman"/>
            </a:endParaRPr>
          </a:p>
          <a:p>
            <a:pPr marL="240665" indent="-227965">
              <a:lnSpc>
                <a:spcPts val="2990"/>
              </a:lnSpc>
              <a:buSzPct val="38461"/>
              <a:buFont typeface="Symbol"/>
              <a:buChar char=""/>
              <a:tabLst>
                <a:tab pos="240665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microcontroller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sensor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signals.</a:t>
            </a:r>
            <a:endParaRPr sz="2600">
              <a:latin typeface="Times New Roman"/>
              <a:cs typeface="Times New Roman"/>
            </a:endParaRPr>
          </a:p>
          <a:p>
            <a:pPr marL="240665" indent="-227965">
              <a:lnSpc>
                <a:spcPts val="2990"/>
              </a:lnSpc>
              <a:buSzPct val="38461"/>
              <a:buFont typeface="Symbol"/>
              <a:buChar char=""/>
              <a:tabLst>
                <a:tab pos="240665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motor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moves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package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forward.</a:t>
            </a:r>
            <a:endParaRPr sz="2600">
              <a:latin typeface="Times New Roman"/>
              <a:cs typeface="Times New Roman"/>
            </a:endParaRPr>
          </a:p>
          <a:p>
            <a:pPr marL="240665" indent="-227965">
              <a:lnSpc>
                <a:spcPts val="3000"/>
              </a:lnSpc>
              <a:buSzPct val="38461"/>
              <a:buFont typeface="Symbol"/>
              <a:buChar char=""/>
              <a:tabLst>
                <a:tab pos="240665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sorting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mechanism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directs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package.</a:t>
            </a:r>
            <a:endParaRPr sz="2600">
              <a:latin typeface="Times New Roman"/>
              <a:cs typeface="Times New Roman"/>
            </a:endParaRPr>
          </a:p>
          <a:p>
            <a:pPr marL="240665" indent="-227965">
              <a:lnSpc>
                <a:spcPts val="3060"/>
              </a:lnSpc>
              <a:buSzPct val="38461"/>
              <a:buFont typeface="Symbol"/>
              <a:buChar char=""/>
              <a:tabLst>
                <a:tab pos="240665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package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reaches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assigned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destination.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KNOWLEDGE</a:t>
            </a:r>
            <a:r>
              <a:rPr spc="-85" dirty="0"/>
              <a:t> </a:t>
            </a:r>
            <a:r>
              <a:rPr dirty="0"/>
              <a:t>INSTITUTE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84356" y="5846307"/>
            <a:ext cx="1390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5"/>
              </a:lnSpc>
            </a:pPr>
            <a:r>
              <a:rPr sz="1600" b="1" spc="-50" dirty="0">
                <a:solidFill>
                  <a:srgbClr val="666666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5972" y="1167460"/>
            <a:ext cx="3021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5BB9"/>
                </a:solidFill>
                <a:latin typeface="Times New Roman"/>
                <a:cs typeface="Times New Roman"/>
              </a:rPr>
              <a:t>System</a:t>
            </a:r>
            <a:r>
              <a:rPr sz="3600" spc="-45" dirty="0">
                <a:solidFill>
                  <a:srgbClr val="005BB9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005BB9"/>
                </a:solidFill>
                <a:latin typeface="Times New Roman"/>
                <a:cs typeface="Times New Roman"/>
              </a:rPr>
              <a:t>Features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972" y="2125218"/>
            <a:ext cx="4779010" cy="2477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rgbClr val="005BB9"/>
                </a:solidFill>
                <a:latin typeface="Times New Roman"/>
                <a:cs typeface="Times New Roman"/>
              </a:rPr>
              <a:t>EXISTING</a:t>
            </a:r>
            <a:r>
              <a:rPr sz="2000" b="1" spc="-90" dirty="0">
                <a:solidFill>
                  <a:srgbClr val="005BB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5BB9"/>
                </a:solidFill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95900"/>
              </a:lnSpc>
            </a:pPr>
            <a:r>
              <a:rPr sz="2400" spc="-10" dirty="0">
                <a:latin typeface="Times New Roman"/>
                <a:cs typeface="Times New Roman"/>
              </a:rPr>
              <a:t>Small-</a:t>
            </a:r>
            <a:r>
              <a:rPr sz="2400" dirty="0">
                <a:latin typeface="Times New Roman"/>
                <a:cs typeface="Times New Roman"/>
              </a:rPr>
              <a:t>scale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material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often </a:t>
            </a:r>
            <a:r>
              <a:rPr sz="2400" dirty="0">
                <a:latin typeface="Times New Roman"/>
                <a:cs typeface="Times New Roman"/>
              </a:rPr>
              <a:t>done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manually,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more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effort.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Manual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movement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can </a:t>
            </a:r>
            <a:r>
              <a:rPr sz="2400" dirty="0">
                <a:latin typeface="Times New Roman"/>
                <a:cs typeface="Times New Roman"/>
              </a:rPr>
              <a:t>cause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errors,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inefficient </a:t>
            </a:r>
            <a:r>
              <a:rPr sz="2400" dirty="0">
                <a:latin typeface="Times New Roman"/>
                <a:cs typeface="Times New Roman"/>
              </a:rPr>
              <a:t>package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handling.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0335" y="2070354"/>
            <a:ext cx="5592445" cy="2679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rgbClr val="005BB9"/>
                </a:solidFill>
                <a:latin typeface="Times New Roman"/>
                <a:cs typeface="Times New Roman"/>
              </a:rPr>
              <a:t>PROPOSED</a:t>
            </a:r>
            <a:r>
              <a:rPr sz="2000" b="1" spc="-85" dirty="0">
                <a:solidFill>
                  <a:srgbClr val="005BB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5BB9"/>
                </a:solidFill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  <a:p>
            <a:pPr marL="67310" marR="5080" indent="-55244">
              <a:lnSpc>
                <a:spcPct val="130300"/>
              </a:lnSpc>
              <a:spcBef>
                <a:spcPts val="1305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proposed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uses 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low-</a:t>
            </a:r>
            <a:r>
              <a:rPr sz="2200" dirty="0">
                <a:latin typeface="Times New Roman"/>
                <a:cs typeface="Times New Roman"/>
              </a:rPr>
              <a:t>cost </a:t>
            </a:r>
            <a:r>
              <a:rPr sz="2200" spc="-10" dirty="0">
                <a:latin typeface="Times New Roman"/>
                <a:cs typeface="Times New Roman"/>
              </a:rPr>
              <a:t>conveyor, </a:t>
            </a:r>
            <a:r>
              <a:rPr sz="2200" dirty="0">
                <a:latin typeface="Times New Roman"/>
                <a:cs typeface="Times New Roman"/>
              </a:rPr>
              <a:t>sensors,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motor,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microcontroller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automate </a:t>
            </a:r>
            <a:r>
              <a:rPr sz="2200" dirty="0">
                <a:latin typeface="Times New Roman"/>
                <a:cs typeface="Times New Roman"/>
              </a:rPr>
              <a:t>package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movement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sorting.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faster </a:t>
            </a:r>
            <a:r>
              <a:rPr sz="2200" dirty="0">
                <a:latin typeface="Times New Roman"/>
                <a:cs typeface="Times New Roman"/>
              </a:rPr>
              <a:t>handling,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reduces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manual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effort,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lowers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cost,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improves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efficiency.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23"/>
            <a:ext cx="12192000" cy="6848475"/>
            <a:chOff x="0" y="9523"/>
            <a:chExt cx="12192000" cy="6848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23"/>
              <a:ext cx="12192000" cy="68484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997" y="319659"/>
              <a:ext cx="4800600" cy="35661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5714" y="5714"/>
            <a:ext cx="12204700" cy="990600"/>
            <a:chOff x="-5714" y="5714"/>
            <a:chExt cx="12204700" cy="9906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9140" y="944498"/>
              <a:ext cx="64008" cy="518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1" y="11810"/>
              <a:ext cx="12192000" cy="932815"/>
            </a:xfrm>
            <a:custGeom>
              <a:avLst/>
              <a:gdLst/>
              <a:ahLst/>
              <a:cxnLst/>
              <a:rect l="l" t="t" r="r" b="b"/>
              <a:pathLst>
                <a:path w="12192000" h="932815">
                  <a:moveTo>
                    <a:pt x="12192000" y="0"/>
                  </a:moveTo>
                  <a:lnTo>
                    <a:pt x="0" y="0"/>
                  </a:lnTo>
                  <a:lnTo>
                    <a:pt x="0" y="932687"/>
                  </a:lnTo>
                  <a:lnTo>
                    <a:pt x="12192000" y="93268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5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" y="11810"/>
              <a:ext cx="12192000" cy="932815"/>
            </a:xfrm>
            <a:custGeom>
              <a:avLst/>
              <a:gdLst/>
              <a:ahLst/>
              <a:cxnLst/>
              <a:rect l="l" t="t" r="r" b="b"/>
              <a:pathLst>
                <a:path w="12192000" h="932815">
                  <a:moveTo>
                    <a:pt x="0" y="932687"/>
                  </a:moveTo>
                  <a:lnTo>
                    <a:pt x="12192000" y="93268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932687"/>
                  </a:lnTo>
                  <a:close/>
                </a:path>
              </a:pathLst>
            </a:custGeom>
            <a:ln w="12192">
              <a:solidFill>
                <a:srgbClr val="002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 descr="Knowledge Institute of Technology – Salem Tamilnadu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1596" y="27050"/>
              <a:ext cx="893064" cy="893063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KNOWLEDGE</a:t>
            </a:r>
            <a:r>
              <a:rPr spc="-85" dirty="0"/>
              <a:t> </a:t>
            </a:r>
            <a:r>
              <a:rPr dirty="0"/>
              <a:t>INSTITUTE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594083" y="5760963"/>
            <a:ext cx="1390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5"/>
              </a:lnSpc>
            </a:pPr>
            <a:r>
              <a:rPr sz="1600" spc="-50" dirty="0">
                <a:solidFill>
                  <a:srgbClr val="808080"/>
                </a:solidFill>
                <a:latin typeface="Arial MT"/>
                <a:cs typeface="Arial MT"/>
              </a:rPr>
              <a:t>6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6932" y="894343"/>
            <a:ext cx="9747250" cy="3593465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64"/>
              </a:spcBef>
            </a:pPr>
            <a:r>
              <a:rPr sz="3600" dirty="0">
                <a:solidFill>
                  <a:srgbClr val="005BB9"/>
                </a:solidFill>
                <a:latin typeface="Times New Roman"/>
                <a:cs typeface="Times New Roman"/>
              </a:rPr>
              <a:t>Solution</a:t>
            </a:r>
            <a:r>
              <a:rPr sz="3600" spc="-15" dirty="0">
                <a:solidFill>
                  <a:srgbClr val="005BB9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005BB9"/>
                </a:solidFill>
                <a:latin typeface="Times New Roman"/>
                <a:cs typeface="Times New Roman"/>
              </a:rPr>
              <a:t>Architecture</a:t>
            </a:r>
            <a:endParaRPr sz="3600">
              <a:latin typeface="Times New Roman"/>
              <a:cs typeface="Times New Roman"/>
            </a:endParaRPr>
          </a:p>
          <a:p>
            <a:pPr marL="280035" indent="-227965">
              <a:lnSpc>
                <a:spcPct val="100000"/>
              </a:lnSpc>
              <a:spcBef>
                <a:spcPts val="1090"/>
              </a:spcBef>
              <a:buFont typeface="Symbol"/>
              <a:buChar char=""/>
              <a:tabLst>
                <a:tab pos="280035" algn="l"/>
              </a:tabLst>
            </a:pPr>
            <a:r>
              <a:rPr sz="2200" b="1" dirty="0">
                <a:latin typeface="Times New Roman"/>
                <a:cs typeface="Times New Roman"/>
              </a:rPr>
              <a:t>Power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Supply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&amp;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Control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Unit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power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complete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system.</a:t>
            </a:r>
            <a:endParaRPr sz="2200">
              <a:latin typeface="Times New Roman"/>
              <a:cs typeface="Times New Roman"/>
            </a:endParaRPr>
          </a:p>
          <a:p>
            <a:pPr marL="280035" indent="-227965">
              <a:lnSpc>
                <a:spcPct val="100000"/>
              </a:lnSpc>
              <a:spcBef>
                <a:spcPts val="1010"/>
              </a:spcBef>
              <a:buFont typeface="Symbol"/>
              <a:buChar char=""/>
              <a:tabLst>
                <a:tab pos="280035" algn="l"/>
              </a:tabLst>
            </a:pPr>
            <a:r>
              <a:rPr sz="2200" b="1" dirty="0">
                <a:latin typeface="Times New Roman"/>
                <a:cs typeface="Times New Roman"/>
              </a:rPr>
              <a:t>Conveyor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Module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Moves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packages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smoothly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point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another.</a:t>
            </a:r>
            <a:endParaRPr sz="2200">
              <a:latin typeface="Times New Roman"/>
              <a:cs typeface="Times New Roman"/>
            </a:endParaRPr>
          </a:p>
          <a:p>
            <a:pPr marL="280035" indent="-227965">
              <a:lnSpc>
                <a:spcPct val="100000"/>
              </a:lnSpc>
              <a:spcBef>
                <a:spcPts val="1010"/>
              </a:spcBef>
              <a:buFont typeface="Symbol"/>
              <a:buChar char=""/>
              <a:tabLst>
                <a:tab pos="280035" algn="l"/>
              </a:tabLst>
            </a:pPr>
            <a:r>
              <a:rPr sz="2200" b="1" dirty="0">
                <a:latin typeface="Times New Roman"/>
                <a:cs typeface="Times New Roman"/>
              </a:rPr>
              <a:t>Sensor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Module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Detects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packages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tracks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position.</a:t>
            </a:r>
            <a:endParaRPr sz="2200">
              <a:latin typeface="Times New Roman"/>
              <a:cs typeface="Times New Roman"/>
            </a:endParaRPr>
          </a:p>
          <a:p>
            <a:pPr marL="280035" indent="-227965">
              <a:lnSpc>
                <a:spcPct val="100000"/>
              </a:lnSpc>
              <a:spcBef>
                <a:spcPts val="1010"/>
              </a:spcBef>
              <a:buFont typeface="Symbol"/>
              <a:buChar char=""/>
              <a:tabLst>
                <a:tab pos="280035" algn="l"/>
              </a:tabLst>
            </a:pPr>
            <a:r>
              <a:rPr sz="2200" b="1" dirty="0">
                <a:latin typeface="Times New Roman"/>
                <a:cs typeface="Times New Roman"/>
              </a:rPr>
              <a:t>Microcontroller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Unit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operation.</a:t>
            </a:r>
            <a:endParaRPr sz="2200">
              <a:latin typeface="Times New Roman"/>
              <a:cs typeface="Times New Roman"/>
            </a:endParaRPr>
          </a:p>
          <a:p>
            <a:pPr marL="280035" indent="-227965">
              <a:lnSpc>
                <a:spcPct val="100000"/>
              </a:lnSpc>
              <a:spcBef>
                <a:spcPts val="1035"/>
              </a:spcBef>
              <a:buFont typeface="Symbol"/>
              <a:buChar char=""/>
              <a:tabLst>
                <a:tab pos="280035" algn="l"/>
              </a:tabLst>
            </a:pPr>
            <a:r>
              <a:rPr sz="2200" b="1" dirty="0">
                <a:latin typeface="Times New Roman"/>
                <a:cs typeface="Times New Roman"/>
              </a:rPr>
              <a:t>Sorting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Mechanism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Automatically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packages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destination.</a:t>
            </a:r>
            <a:endParaRPr sz="2200">
              <a:latin typeface="Times New Roman"/>
              <a:cs typeface="Times New Roman"/>
            </a:endParaRPr>
          </a:p>
          <a:p>
            <a:pPr marL="280035" indent="-227965">
              <a:lnSpc>
                <a:spcPct val="100000"/>
              </a:lnSpc>
              <a:spcBef>
                <a:spcPts val="1010"/>
              </a:spcBef>
              <a:buFont typeface="Symbol"/>
              <a:buChar char=""/>
              <a:tabLst>
                <a:tab pos="280035" algn="l"/>
              </a:tabLst>
            </a:pPr>
            <a:r>
              <a:rPr sz="2200" b="1" dirty="0">
                <a:latin typeface="Times New Roman"/>
                <a:cs typeface="Times New Roman"/>
              </a:rPr>
              <a:t>Output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Section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Collects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delivers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packages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efficiently.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KNOWLEDGE</a:t>
            </a:r>
            <a:r>
              <a:rPr spc="-85" dirty="0"/>
              <a:t> </a:t>
            </a:r>
            <a:r>
              <a:rPr dirty="0"/>
              <a:t>INSTITUTE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524" y="1023950"/>
            <a:ext cx="4867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5BB9"/>
                </a:solidFill>
                <a:latin typeface="Times New Roman"/>
                <a:cs typeface="Times New Roman"/>
              </a:rPr>
              <a:t>Demonstration</a:t>
            </a:r>
            <a:r>
              <a:rPr sz="3600" spc="-155" dirty="0">
                <a:solidFill>
                  <a:srgbClr val="005BB9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005BB9"/>
                </a:solidFill>
                <a:latin typeface="Times New Roman"/>
                <a:cs typeface="Times New Roman"/>
              </a:rPr>
              <a:t>breakdown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291" y="2075230"/>
            <a:ext cx="7589520" cy="251650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92405" indent="-179705">
              <a:lnSpc>
                <a:spcPct val="100000"/>
              </a:lnSpc>
              <a:spcBef>
                <a:spcPts val="965"/>
              </a:spcBef>
              <a:buSzPct val="70000"/>
              <a:buFont typeface="Symbol"/>
              <a:buChar char=""/>
              <a:tabLst>
                <a:tab pos="192405" algn="l"/>
              </a:tabLst>
            </a:pPr>
            <a:r>
              <a:rPr sz="2000" b="1" dirty="0">
                <a:latin typeface="Times New Roman"/>
                <a:cs typeface="Times New Roman"/>
              </a:rPr>
              <a:t>Package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Detection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Sensors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automatically.</a:t>
            </a:r>
            <a:endParaRPr sz="2000">
              <a:latin typeface="Times New Roman"/>
              <a:cs typeface="Times New Roman"/>
            </a:endParaRPr>
          </a:p>
          <a:p>
            <a:pPr marL="192405" indent="-179705">
              <a:lnSpc>
                <a:spcPct val="100000"/>
              </a:lnSpc>
              <a:spcBef>
                <a:spcPts val="865"/>
              </a:spcBef>
              <a:buSzPct val="70000"/>
              <a:buFont typeface="Symbol"/>
              <a:buChar char=""/>
              <a:tabLst>
                <a:tab pos="192405" algn="l"/>
              </a:tabLst>
            </a:pPr>
            <a:r>
              <a:rPr sz="2000" b="1" dirty="0">
                <a:latin typeface="Times New Roman"/>
                <a:cs typeface="Times New Roman"/>
              </a:rPr>
              <a:t>System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Start-up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conveyor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initialized.</a:t>
            </a:r>
            <a:endParaRPr sz="2000">
              <a:latin typeface="Times New Roman"/>
              <a:cs typeface="Times New Roman"/>
            </a:endParaRPr>
          </a:p>
          <a:p>
            <a:pPr marL="192405" indent="-179705">
              <a:lnSpc>
                <a:spcPct val="100000"/>
              </a:lnSpc>
              <a:spcBef>
                <a:spcPts val="865"/>
              </a:spcBef>
              <a:buSzPct val="70000"/>
              <a:buFont typeface="Symbol"/>
              <a:buChar char=""/>
              <a:tabLst>
                <a:tab pos="192405" algn="l"/>
              </a:tabLst>
            </a:pPr>
            <a:r>
              <a:rPr sz="2000" b="1" dirty="0">
                <a:latin typeface="Times New Roman"/>
                <a:cs typeface="Times New Roman"/>
              </a:rPr>
              <a:t>Package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Placement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Packages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placed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conveyor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belt.</a:t>
            </a:r>
            <a:endParaRPr sz="2000">
              <a:latin typeface="Times New Roman"/>
              <a:cs typeface="Times New Roman"/>
            </a:endParaRPr>
          </a:p>
          <a:p>
            <a:pPr marL="192405" indent="-179705">
              <a:lnSpc>
                <a:spcPct val="100000"/>
              </a:lnSpc>
              <a:spcBef>
                <a:spcPts val="890"/>
              </a:spcBef>
              <a:buSzPct val="70000"/>
              <a:buFont typeface="Symbol"/>
              <a:buChar char=""/>
              <a:tabLst>
                <a:tab pos="192405" algn="l"/>
              </a:tabLst>
            </a:pPr>
            <a:r>
              <a:rPr sz="2000" b="1" dirty="0">
                <a:latin typeface="Times New Roman"/>
                <a:cs typeface="Times New Roman"/>
              </a:rPr>
              <a:t>Conveyor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Movement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motor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moves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packages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along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conveyor.</a:t>
            </a:r>
            <a:endParaRPr sz="2000">
              <a:latin typeface="Times New Roman"/>
              <a:cs typeface="Times New Roman"/>
            </a:endParaRPr>
          </a:p>
          <a:p>
            <a:pPr marL="192405" indent="-179705">
              <a:lnSpc>
                <a:spcPct val="100000"/>
              </a:lnSpc>
              <a:spcBef>
                <a:spcPts val="865"/>
              </a:spcBef>
              <a:buSzPct val="70000"/>
              <a:buFont typeface="Symbol"/>
              <a:buChar char=""/>
              <a:tabLst>
                <a:tab pos="192405" algn="l"/>
              </a:tabLst>
            </a:pPr>
            <a:r>
              <a:rPr sz="2000" b="1" dirty="0">
                <a:latin typeface="Times New Roman"/>
                <a:cs typeface="Times New Roman"/>
              </a:rPr>
              <a:t>Package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Sorting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packages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section.</a:t>
            </a:r>
            <a:endParaRPr sz="2000">
              <a:latin typeface="Times New Roman"/>
              <a:cs typeface="Times New Roman"/>
            </a:endParaRPr>
          </a:p>
          <a:p>
            <a:pPr marL="192405" indent="-179705">
              <a:lnSpc>
                <a:spcPct val="100000"/>
              </a:lnSpc>
              <a:spcBef>
                <a:spcPts val="865"/>
              </a:spcBef>
              <a:buSzPct val="70000"/>
              <a:buFont typeface="Symbol"/>
              <a:buChar char=""/>
              <a:tabLst>
                <a:tab pos="192405" algn="l"/>
              </a:tabLst>
            </a:pPr>
            <a:r>
              <a:rPr sz="2000" b="1" dirty="0">
                <a:latin typeface="Times New Roman"/>
                <a:cs typeface="Times New Roman"/>
              </a:rPr>
              <a:t>Final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Collection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Sorted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packages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destinations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7025" y="2244344"/>
            <a:ext cx="3579495" cy="23863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3340" y="1011555"/>
            <a:ext cx="60958" cy="457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453876" y="5940795"/>
            <a:ext cx="1390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5"/>
              </a:lnSpc>
            </a:pPr>
            <a:r>
              <a:rPr sz="1600" b="1" spc="-50" dirty="0">
                <a:solidFill>
                  <a:srgbClr val="666666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KNOWLEDGE</a:t>
            </a:r>
            <a:r>
              <a:rPr spc="-85" dirty="0"/>
              <a:t> </a:t>
            </a:r>
            <a:r>
              <a:rPr dirty="0"/>
              <a:t>INSTITUTE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53876" y="5843260"/>
            <a:ext cx="1390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5"/>
              </a:lnSpc>
            </a:pPr>
            <a:r>
              <a:rPr sz="1600" b="1" spc="-50" dirty="0">
                <a:solidFill>
                  <a:srgbClr val="666666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5492" y="1227161"/>
            <a:ext cx="11131550" cy="3281679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2065"/>
              </a:spcBef>
            </a:pPr>
            <a:r>
              <a:rPr sz="2800" spc="-10" dirty="0">
                <a:solidFill>
                  <a:srgbClr val="005BB9"/>
                </a:solidFill>
                <a:latin typeface="Times New Roman"/>
                <a:cs typeface="Times New Roman"/>
              </a:rPr>
              <a:t>CONCLUSION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000" b="1" dirty="0">
                <a:latin typeface="Times New Roman"/>
                <a:cs typeface="Times New Roman"/>
              </a:rPr>
              <a:t>Implementation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Outcome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961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proposed</a:t>
            </a:r>
            <a:r>
              <a:rPr sz="2200" spc="-20" dirty="0">
                <a:latin typeface="Times New Roman"/>
                <a:cs typeface="Times New Roman"/>
              </a:rPr>
              <a:t> Low-</a:t>
            </a:r>
            <a:r>
              <a:rPr sz="2200" dirty="0">
                <a:latin typeface="Times New Roman"/>
                <a:cs typeface="Times New Roman"/>
              </a:rPr>
              <a:t>Cost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Conveyor-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Micro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Logistics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affordable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efficient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solution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small-</a:t>
            </a:r>
            <a:r>
              <a:rPr sz="2200" dirty="0">
                <a:latin typeface="Times New Roman"/>
                <a:cs typeface="Times New Roman"/>
              </a:rPr>
              <a:t>scale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material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handling.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integrating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conveyor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belt,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sensors,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motor,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microcontroller,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automates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package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movement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sorting.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reduces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manual</a:t>
            </a:r>
            <a:r>
              <a:rPr sz="2200" spc="5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effort,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saves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minimizes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errors,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improves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overall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logistics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efficiency.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simple,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cost-</a:t>
            </a:r>
            <a:r>
              <a:rPr sz="2200" dirty="0">
                <a:latin typeface="Times New Roman"/>
                <a:cs typeface="Times New Roman"/>
              </a:rPr>
              <a:t>effective,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operate,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suitable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small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warehouses,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workshops,</a:t>
            </a:r>
            <a:r>
              <a:rPr sz="2200" spc="-25" dirty="0">
                <a:latin typeface="Times New Roman"/>
                <a:cs typeface="Times New Roman"/>
              </a:rPr>
              <a:t> and </a:t>
            </a:r>
            <a:r>
              <a:rPr sz="2200" dirty="0">
                <a:latin typeface="Times New Roman"/>
                <a:cs typeface="Times New Roman"/>
              </a:rPr>
              <a:t>educational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applications.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491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Symbol</vt:lpstr>
      <vt:lpstr>Times New Roman</vt:lpstr>
      <vt:lpstr>Office Theme</vt:lpstr>
      <vt:lpstr>LOW-COST CONVEYOR-BASED</vt:lpstr>
      <vt:lpstr>LOW-COST CONVEYOR-BASED MICRO LOGISTICS SYSTEM</vt:lpstr>
      <vt:lpstr>KNOWLEDGE INSTITUTE OF TECHNOLOGY</vt:lpstr>
      <vt:lpstr>Working Methodology</vt:lpstr>
      <vt:lpstr>KNOWLEDGE INSTITUTE OF TECHNOLOGY</vt:lpstr>
      <vt:lpstr>KNOWLEDGE INSTITUTE OF TECHNOLOGY</vt:lpstr>
      <vt:lpstr>KNOWLEDGE INSTITUTE OF TECHNOLOGY</vt:lpstr>
      <vt:lpstr>KNOWLEDGE INSTITUTE OF TECHNOLOGY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karthikeyan v</cp:lastModifiedBy>
  <cp:revision>1</cp:revision>
  <dcterms:created xsi:type="dcterms:W3CDTF">2026-09-04T10:38:55Z</dcterms:created>
  <dcterms:modified xsi:type="dcterms:W3CDTF">2026-09-13T07:11:49Z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2026-09-04T00:00:00Z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2026-09-04T00:00:00Z</vt:filetime>
  </property>
  <property fmtid="{D5CDD505-2E9C-101B-9397-08002B2CF9AE}" pid="6" name="Producer">
    <vt:lpwstr>www.ilovepdf.com</vt:lpwstr>
  </property>
</Properties>
</file>